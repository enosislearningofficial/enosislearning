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Function Overloading and Overriding in C++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Definition, Syntax, and Simple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Function Overloading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Definition:</a:t>
            </a:r>
          </a:p>
          <a:p>
            <a:pPr marL="0" indent="0">
              <a:buNone/>
            </a:pPr>
            <a:r>
              <a:rPr sz="2400" dirty="0"/>
              <a:t>- Same class, same function name but different parameter list.</a:t>
            </a:r>
          </a:p>
          <a:p>
            <a:pPr marL="0" indent="0">
              <a:buNone/>
            </a:pPr>
            <a:r>
              <a:rPr sz="2400" dirty="0"/>
              <a:t>- Resolved at compile time (Compile-time polymorphism).</a:t>
            </a:r>
          </a:p>
          <a:p>
            <a:pPr marL="0" indent="0">
              <a:buNone/>
            </a:pPr>
            <a:endParaRPr sz="2400" dirty="0"/>
          </a:p>
          <a:p>
            <a:pPr marL="0" indent="0">
              <a:buNone/>
            </a:pPr>
            <a:r>
              <a:rPr sz="2400" dirty="0"/>
              <a:t>Syntax:</a:t>
            </a:r>
          </a:p>
          <a:p>
            <a:pPr marL="0" indent="0">
              <a:buNone/>
            </a:pPr>
            <a:r>
              <a:rPr sz="2400" dirty="0"/>
              <a:t>void </a:t>
            </a:r>
            <a:r>
              <a:rPr sz="2400" dirty="0" err="1"/>
              <a:t>func</a:t>
            </a:r>
            <a:r>
              <a:rPr sz="2400" dirty="0"/>
              <a:t>(int a);</a:t>
            </a:r>
          </a:p>
          <a:p>
            <a:pPr marL="0" indent="0">
              <a:buNone/>
            </a:pPr>
            <a:r>
              <a:rPr sz="2400" dirty="0"/>
              <a:t>void </a:t>
            </a:r>
            <a:r>
              <a:rPr sz="2400" dirty="0" err="1"/>
              <a:t>func</a:t>
            </a:r>
            <a:r>
              <a:rPr sz="2400" dirty="0"/>
              <a:t>(double b);</a:t>
            </a:r>
          </a:p>
          <a:p>
            <a:pPr marL="0" indent="0">
              <a:buNone/>
            </a:pPr>
            <a:r>
              <a:rPr sz="2400" dirty="0"/>
              <a:t>void </a:t>
            </a:r>
            <a:r>
              <a:rPr sz="2400" dirty="0" err="1"/>
              <a:t>func</a:t>
            </a:r>
            <a:r>
              <a:rPr sz="2400" dirty="0"/>
              <a:t>(int a, int b);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 Overloading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1800" dirty="0"/>
              <a:t>#include &lt;iostream&gt;</a:t>
            </a:r>
          </a:p>
          <a:p>
            <a:pPr marL="0" indent="0">
              <a:buNone/>
            </a:pPr>
            <a:r>
              <a:rPr sz="1800" dirty="0"/>
              <a:t>using namespace std;</a:t>
            </a:r>
          </a:p>
          <a:p>
            <a:pPr marL="0" indent="0">
              <a:buNone/>
            </a:pPr>
            <a:endParaRPr sz="1800" dirty="0"/>
          </a:p>
          <a:p>
            <a:pPr marL="0" indent="0">
              <a:buNone/>
            </a:pPr>
            <a:r>
              <a:rPr sz="1800" dirty="0"/>
              <a:t>class Math {</a:t>
            </a:r>
          </a:p>
          <a:p>
            <a:pPr marL="0" indent="0">
              <a:buNone/>
            </a:pPr>
            <a:r>
              <a:rPr sz="1800" dirty="0"/>
              <a:t>public:</a:t>
            </a:r>
          </a:p>
          <a:p>
            <a:pPr marL="0" indent="0">
              <a:buNone/>
            </a:pPr>
            <a:r>
              <a:rPr sz="1800" dirty="0"/>
              <a:t>    void add(int a, int b) {</a:t>
            </a:r>
          </a:p>
          <a:p>
            <a:pPr marL="0" indent="0">
              <a:buNone/>
            </a:pPr>
            <a:r>
              <a:rPr sz="1800" dirty="0"/>
              <a:t>        </a:t>
            </a:r>
            <a:r>
              <a:rPr sz="1800" dirty="0" err="1"/>
              <a:t>cout</a:t>
            </a:r>
            <a:r>
              <a:rPr sz="1800" dirty="0"/>
              <a:t> &lt;&lt; "Sum of integers: " &lt;&lt; a + b &lt;&lt; </a:t>
            </a:r>
            <a:r>
              <a:rPr sz="1800" dirty="0" err="1"/>
              <a:t>endl</a:t>
            </a:r>
            <a:r>
              <a:rPr sz="1800" dirty="0"/>
              <a:t>;</a:t>
            </a:r>
          </a:p>
          <a:p>
            <a:pPr marL="0" indent="0">
              <a:buNone/>
            </a:pPr>
            <a:r>
              <a:rPr sz="1800" dirty="0"/>
              <a:t>    }</a:t>
            </a:r>
          </a:p>
          <a:p>
            <a:pPr marL="0" indent="0">
              <a:buNone/>
            </a:pPr>
            <a:r>
              <a:rPr sz="1800" dirty="0"/>
              <a:t>    void add(double a, double b) {</a:t>
            </a:r>
          </a:p>
          <a:p>
            <a:pPr marL="0" indent="0">
              <a:buNone/>
            </a:pPr>
            <a:r>
              <a:rPr sz="1800" dirty="0"/>
              <a:t>        </a:t>
            </a:r>
            <a:r>
              <a:rPr sz="1800" dirty="0" err="1"/>
              <a:t>cout</a:t>
            </a:r>
            <a:r>
              <a:rPr sz="1800" dirty="0"/>
              <a:t> &lt;&lt; "Sum of doubles: " &lt;&lt; a + b &lt;&lt; </a:t>
            </a:r>
            <a:r>
              <a:rPr sz="1800" dirty="0" err="1"/>
              <a:t>endl</a:t>
            </a:r>
            <a:r>
              <a:rPr sz="1800" dirty="0"/>
              <a:t>;</a:t>
            </a:r>
          </a:p>
          <a:p>
            <a:pPr marL="0" indent="0">
              <a:buNone/>
            </a:pPr>
            <a:r>
              <a:rPr sz="1800" dirty="0"/>
              <a:t>    }</a:t>
            </a:r>
          </a:p>
          <a:p>
            <a:pPr marL="0" indent="0">
              <a:buNone/>
            </a:pPr>
            <a:r>
              <a:rPr sz="1800" dirty="0"/>
              <a:t>    void add(int a, int b, int c) {</a:t>
            </a:r>
          </a:p>
          <a:p>
            <a:pPr marL="0" indent="0">
              <a:buNone/>
            </a:pPr>
            <a:r>
              <a:rPr sz="1800" dirty="0"/>
              <a:t>        </a:t>
            </a:r>
            <a:r>
              <a:rPr sz="1800" dirty="0" err="1"/>
              <a:t>cout</a:t>
            </a:r>
            <a:r>
              <a:rPr sz="1800" dirty="0"/>
              <a:t> &lt;&lt; "Sum of three integers: " &lt;&lt; a + b + c &lt;&lt; </a:t>
            </a:r>
            <a:r>
              <a:rPr sz="1800" dirty="0" err="1"/>
              <a:t>endl</a:t>
            </a:r>
            <a:r>
              <a:rPr sz="1800" dirty="0"/>
              <a:t>;</a:t>
            </a:r>
          </a:p>
          <a:p>
            <a:pPr marL="0" indent="0">
              <a:buNone/>
            </a:pPr>
            <a:r>
              <a:rPr sz="1800" dirty="0"/>
              <a:t>    }</a:t>
            </a:r>
          </a:p>
          <a:p>
            <a:pPr marL="0" indent="0">
              <a:buNone/>
            </a:pPr>
            <a:r>
              <a:rPr sz="1800" dirty="0"/>
              <a:t>};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6315"/>
            <a:ext cx="8229600" cy="541439"/>
          </a:xfrm>
        </p:spPr>
        <p:txBody>
          <a:bodyPr>
            <a:normAutofit fontScale="90000"/>
          </a:bodyPr>
          <a:lstStyle/>
          <a:p>
            <a:r>
              <a:rPr dirty="0"/>
              <a:t>Function Overriding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0039"/>
            <a:ext cx="8229600" cy="5948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 b="1" dirty="0"/>
              <a:t>Definition:</a:t>
            </a:r>
          </a:p>
          <a:p>
            <a:pPr algn="just"/>
            <a:r>
              <a:rPr lang="en-US" sz="2400" dirty="0"/>
              <a:t>Function </a:t>
            </a:r>
            <a:r>
              <a:rPr lang="en-US" sz="2400" b="1" dirty="0"/>
              <a:t>overriding</a:t>
            </a:r>
            <a:r>
              <a:rPr lang="en-US" sz="2400" dirty="0"/>
              <a:t> occurs </a:t>
            </a:r>
            <a:r>
              <a:rPr lang="en-US" sz="2400" b="1" dirty="0"/>
              <a:t>in inheritance (base and derived classes)</a:t>
            </a:r>
            <a:r>
              <a:rPr lang="en-US" sz="2400" dirty="0"/>
              <a:t> when the </a:t>
            </a:r>
            <a:r>
              <a:rPr lang="en-US" sz="2400" b="1" dirty="0"/>
              <a:t>derived class redefines a function of the base class with the same signature (name, parameters, and return type)</a:t>
            </a:r>
            <a:r>
              <a:rPr lang="en-US" sz="2400" dirty="0"/>
              <a:t>.</a:t>
            </a:r>
            <a:r>
              <a:rPr sz="2400" dirty="0"/>
              <a:t>- Function signature must be same.</a:t>
            </a:r>
            <a:endParaRPr lang="en-US" sz="2400" dirty="0"/>
          </a:p>
          <a:p>
            <a:pPr marL="0" indent="0" algn="just">
              <a:buNone/>
            </a:pPr>
            <a:endParaRPr sz="2400" dirty="0"/>
          </a:p>
          <a:p>
            <a:pPr marL="0" indent="0" algn="just">
              <a:buNone/>
            </a:pPr>
            <a:r>
              <a:rPr sz="2400" dirty="0"/>
              <a:t>- Resolved at runtime if base function is virtual (Runtime polymorphism).</a:t>
            </a:r>
          </a:p>
          <a:p>
            <a:pPr marL="0" indent="0"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4B891A-1D41-91DC-2682-045FC017C5B4}"/>
              </a:ext>
            </a:extLst>
          </p:cNvPr>
          <p:cNvSpPr txBox="1"/>
          <p:nvPr/>
        </p:nvSpPr>
        <p:spPr>
          <a:xfrm>
            <a:off x="889818" y="908088"/>
            <a:ext cx="7506929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400" b="1" dirty="0"/>
              <a:t>Syntax:</a:t>
            </a:r>
          </a:p>
          <a:p>
            <a:pPr marL="400050" lvl="1" indent="0">
              <a:buNone/>
            </a:pPr>
            <a:r>
              <a:rPr lang="en-IN" sz="2000" dirty="0"/>
              <a:t>class Base {</a:t>
            </a:r>
          </a:p>
          <a:p>
            <a:pPr marL="400050" lvl="1" indent="0">
              <a:buNone/>
            </a:pPr>
            <a:r>
              <a:rPr lang="en-IN" sz="2000" dirty="0"/>
              <a:t>public:</a:t>
            </a:r>
          </a:p>
          <a:p>
            <a:pPr marL="400050" lvl="1" indent="0">
              <a:buNone/>
            </a:pPr>
            <a:r>
              <a:rPr lang="en-IN" sz="2000" dirty="0"/>
              <a:t>    virtual void </a:t>
            </a:r>
            <a:r>
              <a:rPr lang="en-IN" sz="2000" dirty="0" err="1"/>
              <a:t>functionName</a:t>
            </a:r>
            <a:r>
              <a:rPr lang="en-IN" sz="2000" dirty="0"/>
              <a:t>();   // base version </a:t>
            </a:r>
          </a:p>
          <a:p>
            <a:pPr marL="400050" lvl="1" indent="0">
              <a:buNone/>
            </a:pPr>
            <a:r>
              <a:rPr lang="en-IN" sz="2000" dirty="0"/>
              <a:t>};</a:t>
            </a:r>
          </a:p>
          <a:p>
            <a:pPr marL="400050" lvl="1" indent="0">
              <a:buNone/>
            </a:pPr>
            <a:endParaRPr lang="en-IN" sz="2000" dirty="0"/>
          </a:p>
          <a:p>
            <a:pPr marL="400050" lvl="1" indent="0">
              <a:buNone/>
            </a:pPr>
            <a:r>
              <a:rPr lang="en-IN" sz="2000" dirty="0"/>
              <a:t>class Derived : public Base {</a:t>
            </a:r>
          </a:p>
          <a:p>
            <a:pPr marL="400050" lvl="1" indent="0">
              <a:buNone/>
            </a:pPr>
            <a:r>
              <a:rPr lang="en-IN" sz="2000" dirty="0"/>
              <a:t>public:</a:t>
            </a:r>
          </a:p>
          <a:p>
            <a:pPr marL="400050" lvl="1" indent="0">
              <a:buNone/>
            </a:pPr>
            <a:r>
              <a:rPr lang="en-IN" sz="2000" dirty="0"/>
              <a:t>    void </a:t>
            </a:r>
            <a:r>
              <a:rPr lang="en-IN" sz="2000" dirty="0" err="1"/>
              <a:t>functionName</a:t>
            </a:r>
            <a:r>
              <a:rPr lang="en-IN" sz="2000" dirty="0"/>
              <a:t>() override;  // derived version</a:t>
            </a:r>
          </a:p>
          <a:p>
            <a:pPr marL="400050" lvl="1" indent="0">
              <a:buNone/>
            </a:pPr>
            <a:r>
              <a:rPr lang="en-IN" sz="2000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289776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 Overriding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1800" dirty="0"/>
              <a:t>#include &lt;iostream&gt;</a:t>
            </a:r>
          </a:p>
          <a:p>
            <a:pPr marL="0" indent="0">
              <a:buNone/>
            </a:pPr>
            <a:r>
              <a:rPr sz="1800" dirty="0"/>
              <a:t>using namespace std;</a:t>
            </a:r>
          </a:p>
          <a:p>
            <a:pPr marL="0" indent="0">
              <a:buNone/>
            </a:pPr>
            <a:endParaRPr sz="1800" dirty="0"/>
          </a:p>
          <a:p>
            <a:pPr marL="0" indent="0">
              <a:buNone/>
            </a:pPr>
            <a:r>
              <a:rPr sz="1800" dirty="0"/>
              <a:t>class Animal {</a:t>
            </a:r>
          </a:p>
          <a:p>
            <a:pPr marL="0" indent="0">
              <a:buNone/>
            </a:pPr>
            <a:r>
              <a:rPr sz="1800" dirty="0"/>
              <a:t>public:</a:t>
            </a:r>
          </a:p>
          <a:p>
            <a:pPr marL="0" indent="0">
              <a:buNone/>
            </a:pPr>
            <a:r>
              <a:rPr sz="1800" dirty="0"/>
              <a:t>    virtual void sound() {</a:t>
            </a:r>
          </a:p>
          <a:p>
            <a:pPr marL="0" indent="0">
              <a:buNone/>
            </a:pPr>
            <a:r>
              <a:rPr sz="1800" dirty="0"/>
              <a:t>        </a:t>
            </a:r>
            <a:r>
              <a:rPr sz="1800" dirty="0" err="1"/>
              <a:t>cout</a:t>
            </a:r>
            <a:r>
              <a:rPr sz="1800" dirty="0"/>
              <a:t> &lt;&lt; "Animal makes a sound" &lt;&lt; </a:t>
            </a:r>
            <a:r>
              <a:rPr sz="1800" dirty="0" err="1"/>
              <a:t>endl</a:t>
            </a:r>
            <a:r>
              <a:rPr sz="1800" dirty="0"/>
              <a:t>;</a:t>
            </a:r>
          </a:p>
          <a:p>
            <a:pPr marL="0" indent="0">
              <a:buNone/>
            </a:pPr>
            <a:r>
              <a:rPr sz="1800" dirty="0"/>
              <a:t>    }</a:t>
            </a:r>
          </a:p>
          <a:p>
            <a:pPr marL="0" indent="0">
              <a:buNone/>
            </a:pPr>
            <a:r>
              <a:rPr sz="1800" dirty="0"/>
              <a:t>};</a:t>
            </a:r>
          </a:p>
          <a:p>
            <a:pPr marL="0" indent="0">
              <a:buNone/>
            </a:pPr>
            <a:endParaRPr sz="1800" dirty="0"/>
          </a:p>
          <a:p>
            <a:pPr marL="0" indent="0">
              <a:buNone/>
            </a:pPr>
            <a:r>
              <a:rPr sz="1800" dirty="0"/>
              <a:t>class Dog : public Animal {</a:t>
            </a:r>
          </a:p>
          <a:p>
            <a:pPr marL="0" indent="0">
              <a:buNone/>
            </a:pPr>
            <a:r>
              <a:rPr sz="1800" dirty="0"/>
              <a:t>public:</a:t>
            </a:r>
          </a:p>
          <a:p>
            <a:pPr marL="0" indent="0">
              <a:buNone/>
            </a:pPr>
            <a:r>
              <a:rPr sz="1800" dirty="0"/>
              <a:t>    void sound() override {</a:t>
            </a:r>
          </a:p>
          <a:p>
            <a:pPr marL="0" indent="0">
              <a:buNone/>
            </a:pPr>
            <a:r>
              <a:rPr sz="1800" dirty="0"/>
              <a:t>        </a:t>
            </a:r>
            <a:r>
              <a:rPr sz="1800" dirty="0" err="1"/>
              <a:t>cout</a:t>
            </a:r>
            <a:r>
              <a:rPr sz="1800" dirty="0"/>
              <a:t> &lt;&lt; "Dog barks" &lt;&lt; </a:t>
            </a:r>
            <a:r>
              <a:rPr sz="1800" dirty="0" err="1"/>
              <a:t>endl</a:t>
            </a:r>
            <a:r>
              <a:rPr sz="1800" dirty="0"/>
              <a:t>;</a:t>
            </a:r>
          </a:p>
          <a:p>
            <a:pPr marL="0" indent="0">
              <a:buNone/>
            </a:pPr>
            <a:r>
              <a:rPr sz="1800" dirty="0"/>
              <a:t>    }</a:t>
            </a:r>
          </a:p>
          <a:p>
            <a:pPr marL="0" indent="0">
              <a:buNone/>
            </a:pPr>
            <a:r>
              <a:rPr sz="1800" dirty="0"/>
              <a:t>};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- Overloading: Same class, different parameter list, compile-time.</a:t>
            </a:r>
          </a:p>
          <a:p>
            <a:pPr marL="0" indent="0">
              <a:buNone/>
            </a:pPr>
            <a:r>
              <a:rPr sz="2400" dirty="0"/>
              <a:t>- Overriding: Base &amp; Derived classes, same signature, runtime.</a:t>
            </a:r>
          </a:p>
          <a:p>
            <a:pPr marL="0" indent="0">
              <a:buNone/>
            </a:pPr>
            <a:r>
              <a:rPr sz="2400" dirty="0"/>
              <a:t>- Overloading achieves compile-time polymorphism.</a:t>
            </a:r>
          </a:p>
          <a:p>
            <a:pPr marL="0" indent="0">
              <a:buNone/>
            </a:pPr>
            <a:r>
              <a:rPr sz="2400" dirty="0"/>
              <a:t>- Overriding achieves runtime polymorphism (with virtual keyword).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374</Words>
  <Application>Microsoft Office PowerPoint</Application>
  <PresentationFormat>On-screen Show (4:3)</PresentationFormat>
  <Paragraphs>64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Function Overloading and Overriding in C++</vt:lpstr>
      <vt:lpstr>Function Overloading</vt:lpstr>
      <vt:lpstr>Function Overloading Example</vt:lpstr>
      <vt:lpstr>Function Overriding</vt:lpstr>
      <vt:lpstr>PowerPoint Presentation</vt:lpstr>
      <vt:lpstr>Function Overriding Example</vt:lpstr>
      <vt:lpstr>Key Differences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2064_Amruta Chorage</cp:lastModifiedBy>
  <cp:revision>2</cp:revision>
  <dcterms:created xsi:type="dcterms:W3CDTF">2013-01-27T09:14:16Z</dcterms:created>
  <dcterms:modified xsi:type="dcterms:W3CDTF">2025-08-13T11:30:39Z</dcterms:modified>
  <cp:category/>
</cp:coreProperties>
</file>