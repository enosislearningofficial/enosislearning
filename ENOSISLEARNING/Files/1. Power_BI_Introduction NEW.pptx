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sldIdLst>
    <p:sldId id="256" r:id="rId2"/>
    <p:sldId id="265" r:id="rId3"/>
    <p:sldId id="309" r:id="rId4"/>
    <p:sldId id="308" r:id="rId5"/>
    <p:sldId id="306" r:id="rId6"/>
    <p:sldId id="305" r:id="rId7"/>
    <p:sldId id="304" r:id="rId8"/>
    <p:sldId id="264" r:id="rId9"/>
    <p:sldId id="258" r:id="rId10"/>
    <p:sldId id="310" r:id="rId11"/>
    <p:sldId id="302" r:id="rId12"/>
    <p:sldId id="297" r:id="rId13"/>
    <p:sldId id="261" r:id="rId14"/>
    <p:sldId id="268" r:id="rId15"/>
    <p:sldId id="298" r:id="rId16"/>
    <p:sldId id="299" r:id="rId17"/>
    <p:sldId id="300" r:id="rId18"/>
    <p:sldId id="28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2" autoAdjust="0"/>
    <p:restoredTop sz="94316" autoAdjust="0"/>
  </p:normalViewPr>
  <p:slideViewPr>
    <p:cSldViewPr snapToGrid="0">
      <p:cViewPr varScale="1">
        <p:scale>
          <a:sx n="68" d="100"/>
          <a:sy n="68" d="100"/>
        </p:scale>
        <p:origin x="58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6/25/2025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CD63-5F23-455C-BB56-C7374F9C6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061" y="1342293"/>
            <a:ext cx="10058400" cy="2593975"/>
          </a:xfrm>
        </p:spPr>
        <p:txBody>
          <a:bodyPr/>
          <a:lstStyle/>
          <a:p>
            <a:r>
              <a:rPr lang="en-IN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BI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A0DD7EBE-193A-4D7F-AFE4-B3F190B15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087" y="2271697"/>
            <a:ext cx="3634114" cy="2716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6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7449-9026-45E3-B78C-1B152C03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5" y="257865"/>
            <a:ext cx="3854528" cy="579584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Power BI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075E3-B432-4D42-B2DA-41CC7D4AB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942109"/>
            <a:ext cx="9832757" cy="196823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Power 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BI is a 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data  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analytics 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tool 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provided by</a:t>
            </a:r>
            <a:r>
              <a:rPr lang="en-US" sz="1700" b="1">
                <a:ea typeface="Yu Gothic Light" panose="020B0300000000000000" pitchFamily="34" charset="-128"/>
                <a:cs typeface="Times New Roman" panose="02020603050405020304" pitchFamily="18" charset="0"/>
              </a:rPr>
              <a:t> </a:t>
            </a:r>
            <a:r>
              <a:rPr lang="en-US" sz="1700" b="1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Microsoft </a:t>
            </a:r>
            <a:r>
              <a:rPr lang="en-US" sz="1700" b="1" smtClean="0"/>
              <a:t>Power </a:t>
            </a:r>
            <a:r>
              <a:rPr lang="en-US" sz="1700" b="1" dirty="0" smtClean="0"/>
              <a:t>BI gives </a:t>
            </a:r>
            <a:r>
              <a:rPr lang="en-US" sz="1700" b="1" dirty="0"/>
              <a:t>the ability to analyze and explore data </a:t>
            </a:r>
            <a:r>
              <a:rPr lang="en-US" sz="1700" b="1" dirty="0" smtClean="0"/>
              <a:t>on-premise </a:t>
            </a:r>
            <a:r>
              <a:rPr lang="en-US" sz="1700" b="1" dirty="0"/>
              <a:t>as well as in the cloud.</a:t>
            </a:r>
            <a:endParaRPr lang="en-US" sz="1700" b="1" dirty="0"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 It provides 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interactive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 visualizations with 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intelligence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 capabilities, where 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users can 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use to create </a:t>
            </a:r>
            <a:r>
              <a:rPr lang="en-US" sz="1700" b="1" dirty="0">
                <a:ea typeface="Yu Gothic Light" panose="020B0300000000000000" pitchFamily="34" charset="-128"/>
                <a:cs typeface="Times New Roman" panose="02020603050405020304" pitchFamily="18" charset="0"/>
              </a:rPr>
              <a:t>reports and dashboards by themselves, without having to depend on information technology staff or database administrators</a:t>
            </a:r>
            <a:r>
              <a:rPr lang="en-US" sz="1700" b="1" dirty="0" smtClean="0">
                <a:ea typeface="Yu Gothic Light" panose="020B03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700" b="1" dirty="0"/>
              <a:t>Power BI provides the ability to collaborate and share customized dashboards and interactive reports across colleagues and organizations, easily and securely</a:t>
            </a:r>
            <a:r>
              <a:rPr lang="en-US" sz="1700" b="1" dirty="0" smtClean="0"/>
              <a:t>.</a:t>
            </a:r>
          </a:p>
          <a:p>
            <a:endParaRPr lang="en-IN" sz="1700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833" y="2701021"/>
            <a:ext cx="4781319" cy="3884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10340"/>
            <a:ext cx="6487188" cy="367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6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Enosis\Downloads\Understanding Power BI Architecture_ A Three-Phase Approach - visual selection (15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8"/>
          <a:stretch/>
        </p:blipFill>
        <p:spPr bwMode="auto">
          <a:xfrm>
            <a:off x="436098" y="661182"/>
            <a:ext cx="10213145" cy="507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11768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7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ower BI Architecture - Explained with Diagrams &amp; Examples | Coupler.io Blo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9" y="112542"/>
            <a:ext cx="10874326" cy="649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11768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7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850777"/>
          </a:xfrm>
        </p:spPr>
        <p:txBody>
          <a:bodyPr/>
          <a:lstStyle/>
          <a:p>
            <a:r>
              <a:rPr lang="en-US" dirty="0"/>
              <a:t>Usage of Data Analysis in Industry: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37957"/>
            <a:ext cx="10160000" cy="5162843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E-commerce Industry</a:t>
            </a:r>
          </a:p>
          <a:p>
            <a:r>
              <a:rPr lang="en-US" b="1" dirty="0"/>
              <a:t>Usage:</a:t>
            </a:r>
            <a:r>
              <a:rPr lang="en-US" dirty="0"/>
              <a:t> Customer behavior analysis and personalized marketing.</a:t>
            </a:r>
          </a:p>
          <a:p>
            <a:r>
              <a:rPr lang="en-US" b="1" dirty="0"/>
              <a:t>Example:</a:t>
            </a:r>
            <a:r>
              <a:rPr lang="en-US" dirty="0"/>
              <a:t> E-commerce companies use data analysis to track user browsing and purchase history, enabling personalized product recommendations and targeted advertisements that increase conversion rates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Healthcare Industry</a:t>
            </a:r>
          </a:p>
          <a:p>
            <a:r>
              <a:rPr lang="en-US" b="1" dirty="0"/>
              <a:t>Usage:</a:t>
            </a:r>
            <a:r>
              <a:rPr lang="en-US" dirty="0"/>
              <a:t> Predictive analytics to improve patient care.</a:t>
            </a:r>
          </a:p>
          <a:p>
            <a:r>
              <a:rPr lang="en-US" b="1" dirty="0"/>
              <a:t>Example:</a:t>
            </a:r>
            <a:r>
              <a:rPr lang="en-US" dirty="0"/>
              <a:t> Hospitals analyze patient records and historical data to predict the likelihood of readmission or potential health risks, enabling early intervention and personalized treatment plans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Finance Industry</a:t>
            </a:r>
          </a:p>
          <a:p>
            <a:r>
              <a:rPr lang="en-US" b="1" dirty="0"/>
              <a:t>Usage:</a:t>
            </a:r>
            <a:r>
              <a:rPr lang="en-US" dirty="0"/>
              <a:t> Risk assessment and fraud detection.</a:t>
            </a:r>
          </a:p>
          <a:p>
            <a:r>
              <a:rPr lang="en-US" b="1" dirty="0"/>
              <a:t>Example:</a:t>
            </a:r>
            <a:r>
              <a:rPr lang="en-US" dirty="0"/>
              <a:t> Banks use data analysis to detect unusual spending behavior that may indicate fraud, and to assess credit risk before approving loans or credit cards.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11768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solidFill>
                  <a:schemeClr val="accent5"/>
                </a:solidFill>
                <a:cs typeface="Times New Roman" panose="02020603050405020304" pitchFamily="18" charset="0"/>
              </a:rPr>
              <a:t>Evolution of Power BI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614055"/>
            <a:ext cx="10160000" cy="48006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 smtClean="0"/>
              <a:t>Early </a:t>
            </a:r>
            <a:r>
              <a:rPr lang="en-US" b="1" dirty="0"/>
              <a:t>Beginnings (2009-2013)</a:t>
            </a: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Initially developed as add-ons in </a:t>
            </a:r>
            <a:r>
              <a:rPr lang="en-US" dirty="0" smtClean="0"/>
              <a:t>Excel.</a:t>
            </a: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Microsoft recognized the demand for a standalone BI tool.</a:t>
            </a:r>
          </a:p>
          <a:p>
            <a:pPr marL="114300" indent="0">
              <a:buNone/>
            </a:pPr>
            <a:r>
              <a:rPr lang="en-US" b="1" dirty="0"/>
              <a:t>Introduction as a Separate Product (2015)</a:t>
            </a: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Power BI was launched as a cloud-based BI tool.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Included Power BI Desktop, Power BI Service, and Power BI Mobile.</a:t>
            </a:r>
          </a:p>
          <a:p>
            <a:pPr marL="114300" indent="0">
              <a:buNone/>
            </a:pPr>
            <a:r>
              <a:rPr lang="en-US" b="1" dirty="0"/>
              <a:t>AI &amp; Advanced Analytics (2017-2020)</a:t>
            </a: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Integration of Artificial Intelligence (AI) for data insights.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Enhanced data connectivity with Azure, SQL Server, and third-party sources.</a:t>
            </a:r>
          </a:p>
          <a:p>
            <a:pPr marL="114300" indent="0">
              <a:buNone/>
            </a:pPr>
            <a:r>
              <a:rPr lang="en-US" b="1" dirty="0"/>
              <a:t>Real-time &amp; Hybrid Analytics (2021-Present)</a:t>
            </a: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Enhanced real-time data processing capabilities.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Improved collaboration with Microsoft Teams and Excel.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Expanded governance </a:t>
            </a:r>
            <a:r>
              <a:rPr lang="en-US"/>
              <a:t>and </a:t>
            </a:r>
            <a:r>
              <a:rPr lang="en-US" smtClean="0"/>
              <a:t>security.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4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Power BI ?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43929"/>
            <a:ext cx="10160000" cy="48006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data-driven world, businesses generate massive amounts of data.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(BI)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 to transform raw data into meaningful insights for better decision-making.</a:t>
            </a:r>
          </a:p>
          <a:p>
            <a:pPr marL="11430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Businesses Need BI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1430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organizations make informed and strategic decisions.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data collection, reporting, and analysis, saving time and resources.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Analyzes customer behavior, trends, and preferences for personalized experiences.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market trends, risks, and opportunities to stay ahead of competitors.</a:t>
            </a:r>
          </a:p>
          <a:p>
            <a:pPr marL="11430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inefficiencies and areas to reduce operational costs.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692" y="6260123"/>
            <a:ext cx="1715494" cy="59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61B0-049F-4270-90F0-723ED3321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Benefits of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B548-924E-48E0-A5A2-DE6C767B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440873"/>
            <a:ext cx="10460718" cy="460049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Integrates seamlessly with </a:t>
            </a:r>
            <a:r>
              <a:rPr lang="en-IN" sz="24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different data sources.</a:t>
            </a:r>
            <a:endParaRPr lang="en-I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Rich personalized dashboards.</a:t>
            </a:r>
          </a:p>
          <a:p>
            <a:r>
              <a:rPr lang="en-US" sz="2400" dirty="0"/>
              <a:t>Provides a cloud-based as well as a desktop interface.</a:t>
            </a:r>
            <a:endParaRPr lang="en-IN" sz="24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IN" sz="24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Publish </a:t>
            </a:r>
            <a:r>
              <a:rPr lang="en-I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reports </a:t>
            </a:r>
            <a:r>
              <a:rPr lang="en-IN" sz="24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securely</a:t>
            </a:r>
            <a:r>
              <a:rPr lang="en-IN" sz="2400" dirty="0"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cs typeface="Times New Roman" panose="02020603050405020304" pitchFamily="18" charset="0"/>
              </a:rPr>
              <a:t>over web and mobile apps</a:t>
            </a:r>
          </a:p>
          <a:p>
            <a:r>
              <a:rPr lang="en-IN" sz="24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Export to different format like PDF and PPT</a:t>
            </a:r>
          </a:p>
          <a:p>
            <a:r>
              <a:rPr lang="en-IN" sz="2400" dirty="0" smtClean="0">
                <a:cs typeface="Times New Roman" panose="02020603050405020304" pitchFamily="18" charset="0"/>
              </a:rPr>
              <a:t>Integrated with different web applications and SharePoint applications</a:t>
            </a:r>
          </a:p>
          <a:p>
            <a:r>
              <a:rPr lang="en-US" sz="2400" dirty="0"/>
              <a:t>Easily scalable across the entire organization.</a:t>
            </a:r>
            <a:endParaRPr lang="en-I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3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88D-7CCE-4BDC-A2A5-7375A301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 smtClean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Power BI Consists of Four Components/Phases</a:t>
            </a:r>
            <a:endParaRPr lang="en-IN" sz="3200" b="1" dirty="0">
              <a:solidFill>
                <a:schemeClr val="accent5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AC97CC-8DA8-4924-AB90-9225D96339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9926" y="1362365"/>
            <a:ext cx="9619673" cy="293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609031"/>
              </p:ext>
            </p:extLst>
          </p:nvPr>
        </p:nvGraphicFramePr>
        <p:xfrm>
          <a:off x="2664688" y="5680363"/>
          <a:ext cx="604520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28">
                <a:tc>
                  <a:txBody>
                    <a:bodyPr/>
                    <a:lstStyle/>
                    <a:p>
                      <a:r>
                        <a:rPr lang="en-US" dirty="0" smtClean="0"/>
                        <a:t>Power</a:t>
                      </a:r>
                      <a:r>
                        <a:rPr lang="en-US" baseline="0" dirty="0" smtClean="0"/>
                        <a:t> BI Desktop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Power BI Web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Power BI</a:t>
                      </a:r>
                      <a:r>
                        <a:rPr lang="en-US" baseline="0" dirty="0" smtClean="0"/>
                        <a:t> Mobile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64689" y="4983080"/>
            <a:ext cx="6049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Power BI Applications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382455"/>
              </p:ext>
            </p:extLst>
          </p:nvPr>
        </p:nvGraphicFramePr>
        <p:xfrm>
          <a:off x="1080652" y="4343000"/>
          <a:ext cx="101138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6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543">
                <a:tc>
                  <a:txBody>
                    <a:bodyPr/>
                    <a:lstStyle/>
                    <a:p>
                      <a:r>
                        <a:rPr lang="en-US" dirty="0" smtClean="0"/>
                        <a:t>Data Sources Components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Transformation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Visualization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Publishing</a:t>
                      </a:r>
                      <a:r>
                        <a:rPr lang="en-US" baseline="0" dirty="0" smtClean="0"/>
                        <a:t> &amp; Sharing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BUILDING BLOCKS / COMPONENTS OF POWER BI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4426634" cy="4800600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 smtClean="0"/>
              <a:t>Everything </a:t>
            </a:r>
            <a:r>
              <a:rPr lang="en-US" dirty="0"/>
              <a:t>you do in Power BI can be broken </a:t>
            </a:r>
            <a:r>
              <a:rPr lang="en-US" dirty="0" smtClean="0"/>
              <a:t> down </a:t>
            </a:r>
            <a:r>
              <a:rPr lang="en-US" dirty="0"/>
              <a:t>into following building blocks. A good understanding of these building blocks would help you understand concepts and will let you create detailed and complex reports.</a:t>
            </a:r>
            <a:endParaRPr lang="en-IN" dirty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The </a:t>
            </a:r>
            <a:r>
              <a:rPr lang="en-US" dirty="0"/>
              <a:t>basic building blocks/components of Power BI are the following:</a:t>
            </a:r>
            <a:endParaRPr lang="en-IN" dirty="0"/>
          </a:p>
          <a:p>
            <a:pPr lvl="0"/>
            <a:r>
              <a:rPr lang="en-US" dirty="0"/>
              <a:t>Visualizations</a:t>
            </a:r>
            <a:endParaRPr lang="en-IN" dirty="0"/>
          </a:p>
          <a:p>
            <a:pPr lvl="0"/>
            <a:r>
              <a:rPr lang="en-US" dirty="0"/>
              <a:t>Datasets</a:t>
            </a:r>
            <a:endParaRPr lang="en-IN" dirty="0"/>
          </a:p>
          <a:p>
            <a:pPr lvl="0"/>
            <a:r>
              <a:rPr lang="en-US" dirty="0"/>
              <a:t>Reports</a:t>
            </a:r>
            <a:endParaRPr lang="en-IN" dirty="0"/>
          </a:p>
          <a:p>
            <a:pPr lvl="0"/>
            <a:r>
              <a:rPr lang="en-US" dirty="0"/>
              <a:t>Dashboards</a:t>
            </a:r>
            <a:endParaRPr lang="en-IN" dirty="0"/>
          </a:p>
        </p:txBody>
      </p:sp>
      <p:pic>
        <p:nvPicPr>
          <p:cNvPr id="4" name="Picture 3" descr="C:\Users\Enosis\Downloads\Understanding the Basic Building Blocks of Power BI - visual selection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3"/>
          <a:stretch/>
        </p:blipFill>
        <p:spPr bwMode="auto">
          <a:xfrm>
            <a:off x="5036234" y="1237958"/>
            <a:ext cx="6203852" cy="4951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066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5414" y="274638"/>
            <a:ext cx="9644185" cy="580495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Power BI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413934"/>
            <a:ext cx="8201025" cy="5029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8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88D-7CCE-4BDC-A2A5-7375A301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9"/>
            <a:ext cx="9753600" cy="501216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Components of Power BI</a:t>
            </a:r>
            <a:endParaRPr lang="en-IN" sz="4000" b="1" dirty="0">
              <a:solidFill>
                <a:schemeClr val="accent5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41255"/>
              </p:ext>
            </p:extLst>
          </p:nvPr>
        </p:nvGraphicFramePr>
        <p:xfrm>
          <a:off x="277089" y="1384683"/>
          <a:ext cx="10792692" cy="2702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408">
                <a:tc>
                  <a:txBody>
                    <a:bodyPr/>
                    <a:lstStyle/>
                    <a:p>
                      <a:r>
                        <a:rPr lang="en-US" dirty="0" smtClean="0"/>
                        <a:t>Data Sources Components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Transformation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Visualization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Publishing</a:t>
                      </a:r>
                      <a:r>
                        <a:rPr lang="en-US" baseline="0" dirty="0" smtClean="0"/>
                        <a:t> &amp; Sharing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586">
                <a:tc>
                  <a:txBody>
                    <a:bodyPr/>
                    <a:lstStyle/>
                    <a:p>
                      <a:r>
                        <a:rPr lang="en-US" dirty="0" smtClean="0"/>
                        <a:t>Files Sources</a:t>
                      </a:r>
                    </a:p>
                    <a:p>
                      <a:r>
                        <a:rPr lang="en-US" dirty="0" smtClean="0"/>
                        <a:t>Database Sources</a:t>
                      </a:r>
                    </a:p>
                    <a:p>
                      <a:r>
                        <a:rPr lang="en-US" dirty="0" smtClean="0"/>
                        <a:t>Analytical</a:t>
                      </a:r>
                      <a:r>
                        <a:rPr lang="en-US" baseline="0" dirty="0" smtClean="0"/>
                        <a:t> Sources</a:t>
                      </a:r>
                    </a:p>
                    <a:p>
                      <a:r>
                        <a:rPr lang="en-US" baseline="0" dirty="0" smtClean="0"/>
                        <a:t>Azure Sources</a:t>
                      </a:r>
                    </a:p>
                    <a:p>
                      <a:r>
                        <a:rPr lang="en-US" baseline="0" dirty="0" smtClean="0"/>
                        <a:t>Web Sources</a:t>
                      </a:r>
                    </a:p>
                    <a:p>
                      <a:r>
                        <a:rPr lang="en-US" baseline="0" dirty="0" smtClean="0"/>
                        <a:t>Other Sources </a:t>
                      </a:r>
                    </a:p>
                    <a:p>
                      <a:r>
                        <a:rPr lang="en-US" baseline="0" dirty="0" smtClean="0"/>
                        <a:t>(SalesForce, Dynamics etc)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Remove</a:t>
                      </a:r>
                      <a:r>
                        <a:rPr lang="en-US" baseline="0" dirty="0" smtClean="0"/>
                        <a:t> Rows</a:t>
                      </a:r>
                    </a:p>
                    <a:p>
                      <a:r>
                        <a:rPr lang="en-US" baseline="0" dirty="0" smtClean="0"/>
                        <a:t>Filter Data</a:t>
                      </a:r>
                    </a:p>
                    <a:p>
                      <a:r>
                        <a:rPr lang="en-US" baseline="0" dirty="0" smtClean="0"/>
                        <a:t>Remove Columns</a:t>
                      </a:r>
                    </a:p>
                    <a:p>
                      <a:r>
                        <a:rPr lang="en-US" dirty="0" smtClean="0"/>
                        <a:t>Split</a:t>
                      </a:r>
                      <a:r>
                        <a:rPr lang="en-US" baseline="0" dirty="0" smtClean="0"/>
                        <a:t> Columns</a:t>
                      </a:r>
                    </a:p>
                    <a:p>
                      <a:r>
                        <a:rPr lang="en-US" baseline="0" dirty="0" smtClean="0"/>
                        <a:t>Merge Columns</a:t>
                      </a:r>
                    </a:p>
                    <a:p>
                      <a:r>
                        <a:rPr lang="en-US" baseline="0" dirty="0" smtClean="0"/>
                        <a:t>Add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Bar</a:t>
                      </a:r>
                      <a:r>
                        <a:rPr lang="en-US" baseline="0" dirty="0" smtClean="0"/>
                        <a:t> Charts</a:t>
                      </a:r>
                    </a:p>
                    <a:p>
                      <a:r>
                        <a:rPr lang="en-US" baseline="0" dirty="0" smtClean="0"/>
                        <a:t>Pie Chart</a:t>
                      </a:r>
                    </a:p>
                    <a:p>
                      <a:r>
                        <a:rPr lang="en-US" baseline="0" dirty="0" smtClean="0"/>
                        <a:t>Funnel</a:t>
                      </a:r>
                    </a:p>
                    <a:p>
                      <a:r>
                        <a:rPr lang="en-US" baseline="0" dirty="0" smtClean="0"/>
                        <a:t>TreeMap</a:t>
                      </a:r>
                    </a:p>
                    <a:p>
                      <a:r>
                        <a:rPr lang="en-US" baseline="0" dirty="0" smtClean="0"/>
                        <a:t>Maps</a:t>
                      </a:r>
                    </a:p>
                    <a:p>
                      <a:r>
                        <a:rPr lang="en-US" baseline="0" dirty="0" smtClean="0"/>
                        <a:t>Table</a:t>
                      </a:r>
                    </a:p>
                    <a:p>
                      <a:r>
                        <a:rPr lang="en-US" baseline="0" dirty="0" smtClean="0"/>
                        <a:t>Matrix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Power BI Web </a:t>
                      </a:r>
                    </a:p>
                    <a:p>
                      <a:r>
                        <a:rPr lang="en-US" dirty="0" smtClean="0"/>
                        <a:t>Sharing</a:t>
                      </a:r>
                      <a:r>
                        <a:rPr lang="en-US" baseline="0" dirty="0" smtClean="0"/>
                        <a:t> PBIX file</a:t>
                      </a:r>
                    </a:p>
                    <a:p>
                      <a:r>
                        <a:rPr lang="en-US" baseline="0" dirty="0" smtClean="0"/>
                        <a:t>Export to PDF</a:t>
                      </a:r>
                    </a:p>
                    <a:p>
                      <a:r>
                        <a:rPr lang="en-US" baseline="0" dirty="0" smtClean="0"/>
                        <a:t>Export to PPT</a:t>
                      </a:r>
                    </a:p>
                    <a:p>
                      <a:r>
                        <a:rPr lang="en-US" baseline="0" dirty="0" smtClean="0"/>
                        <a:t>Power BI Mobile Views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1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7F08-151E-447E-AC51-0C700273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 of Power BI </a:t>
            </a:r>
            <a:r>
              <a:rPr lang="en-IN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(Major block of Power BI Reporting)</a:t>
            </a:r>
            <a:endParaRPr lang="en-IN" sz="4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Power BI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29" y="2040862"/>
            <a:ext cx="3762375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1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A55A-5E44-4F43-AB9A-7D057E3A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930707"/>
          </a:xfrm>
        </p:spPr>
        <p:txBody>
          <a:bodyPr/>
          <a:lstStyle/>
          <a:p>
            <a:r>
              <a:rPr lang="en-IN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EACA-C805-4121-89B4-AE409FF20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Times New Roman" panose="02020603050405020304" pitchFamily="18" charset="0"/>
              </a:rPr>
              <a:t>Data-set is nothing but a collection of data or information.</a:t>
            </a:r>
          </a:p>
          <a:p>
            <a:r>
              <a:rPr lang="en-US" sz="2800" dirty="0" smtClean="0">
                <a:cs typeface="Times New Roman" panose="02020603050405020304" pitchFamily="18" charset="0"/>
              </a:rPr>
              <a:t>Power </a:t>
            </a:r>
            <a:r>
              <a:rPr lang="en-US" sz="2800" dirty="0">
                <a:cs typeface="Times New Roman" panose="02020603050405020304" pitchFamily="18" charset="0"/>
              </a:rPr>
              <a:t>BI harnesses this data to create visualizations. </a:t>
            </a:r>
          </a:p>
          <a:p>
            <a:r>
              <a:rPr lang="en-US" sz="2800" dirty="0">
                <a:cs typeface="Times New Roman" panose="02020603050405020304" pitchFamily="18" charset="0"/>
              </a:rPr>
              <a:t>It can be a simple data set or a combination of many different sources, which can be filtered and combined to provide a different data set altogether.</a:t>
            </a:r>
            <a:endParaRPr lang="en-IN" sz="2800" dirty="0"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4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1DE1-D94C-4115-916B-03839699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2"/>
            <a:ext cx="8596668" cy="880879"/>
          </a:xfrm>
        </p:spPr>
        <p:txBody>
          <a:bodyPr>
            <a:normAutofit fontScale="90000"/>
          </a:bodyPr>
          <a:lstStyle/>
          <a:p>
            <a:r>
              <a:rPr lang="en-US" sz="2700" dirty="0" smtClean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Visualizations:  </a:t>
            </a:r>
            <a:r>
              <a:rPr lang="en-US" sz="2700" dirty="0" smtClean="0">
                <a:latin typeface="+mn-lt"/>
                <a:cs typeface="Times New Roman" panose="02020603050405020304" pitchFamily="18" charset="0"/>
              </a:rPr>
              <a:t>A </a:t>
            </a:r>
            <a:r>
              <a:rPr lang="en-US" sz="2700" dirty="0">
                <a:latin typeface="+mn-lt"/>
                <a:cs typeface="Times New Roman" panose="02020603050405020304" pitchFamily="18" charset="0"/>
              </a:rPr>
              <a:t>visual representation of data is called visualization. For example, a chart or a graph can be used to represent data visually. </a:t>
            </a:r>
            <a:r>
              <a:rPr lang="en-US" sz="3200" dirty="0">
                <a:cs typeface="Times New Roman" panose="02020603050405020304" pitchFamily="18" charset="0"/>
              </a:rPr>
              <a:t/>
            </a:r>
            <a:br>
              <a:rPr lang="en-US" sz="3200" dirty="0">
                <a:cs typeface="Times New Roman" panose="02020603050405020304" pitchFamily="18" charset="0"/>
              </a:rPr>
            </a:br>
            <a:endParaRPr lang="en-IN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C401-E402-4556-BDEF-C5A1B9AA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5" y="1490481"/>
            <a:ext cx="2717029" cy="168221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800" dirty="0" smtClean="0">
                <a:cs typeface="Times New Roman" panose="02020603050405020304" pitchFamily="18" charset="0"/>
              </a:rPr>
              <a:t>1.Map </a:t>
            </a:r>
            <a:r>
              <a:rPr lang="en-US" sz="1800" dirty="0">
                <a:cs typeface="Times New Roman" panose="02020603050405020304" pitchFamily="18" charset="0"/>
              </a:rPr>
              <a:t>representation</a:t>
            </a:r>
            <a:endParaRPr lang="en-IN" sz="1800" dirty="0"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 2.Card visualization</a:t>
            </a:r>
            <a:endParaRPr lang="en-IN" sz="1800" dirty="0"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 3.Stacked area chart</a:t>
            </a:r>
            <a:endParaRPr lang="en-IN" sz="1800" dirty="0"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 4.Tree map</a:t>
            </a:r>
            <a:endParaRPr lang="en-IN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 5.Pie chart</a:t>
            </a:r>
            <a:endParaRPr lang="en-IN" sz="1800" dirty="0"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E9821-0221-4DEE-81FF-B1448177EBC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3136" y="1417188"/>
            <a:ext cx="7536427" cy="4837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3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91D6-4B0C-4859-AAF8-E735CED0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5" y="149946"/>
            <a:ext cx="10160000" cy="1484889"/>
          </a:xfrm>
        </p:spPr>
        <p:txBody>
          <a:bodyPr/>
          <a:lstStyle/>
          <a:p>
            <a:r>
              <a:rPr lang="en-US" sz="2800" dirty="0" smtClean="0">
                <a:solidFill>
                  <a:schemeClr val="accent5"/>
                </a:solidFill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solidFill>
                  <a:schemeClr val="accent5"/>
                </a:solidFill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5"/>
                </a:solidFill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chemeClr val="accent5"/>
                </a:solidFill>
                <a:cs typeface="Times New Roman" panose="02020603050405020304" pitchFamily="18" charset="0"/>
              </a:rPr>
            </a:br>
            <a:r>
              <a:rPr lang="en-US" sz="2800" dirty="0" smtClean="0">
                <a:solidFill>
                  <a:schemeClr val="accent5"/>
                </a:solidFill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solidFill>
                  <a:schemeClr val="accent5"/>
                </a:solidFill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5"/>
                </a:solidFill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chemeClr val="accent5"/>
                </a:solidFill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Reports:   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 collection of visualizations that appear together on one or more pages is a report in Power BI. It is a collection of items that are related to one another.</a:t>
            </a:r>
            <a:r>
              <a:rPr lang="en-IN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/>
            </a:r>
            <a:br>
              <a:rPr lang="en-IN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68B93-261B-438C-ABFA-4547708A3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A8543-6F1D-416E-BD22-FD4E9AAFDC8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2545" y="2064326"/>
            <a:ext cx="8478982" cy="4488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0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950-2F94-4A3D-B04C-FAB5192A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461720" cy="1039091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 smtClean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Dashboards</a:t>
            </a:r>
            <a:r>
              <a:rPr lang="en-US" sz="2700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sz="2700" dirty="0" smtClean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7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 </a:t>
            </a:r>
            <a:r>
              <a:rPr lang="en-US" sz="27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Power BI dashboard is a single page interface.   </a:t>
            </a:r>
            <a:r>
              <a:rPr lang="en-US" sz="27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/>
            </a:r>
            <a:br>
              <a:rPr lang="en-US" sz="27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27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It </a:t>
            </a:r>
            <a:r>
              <a:rPr lang="en-US" sz="27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is often called a canvas, that uses visualizations to tell a story.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74" y="1600200"/>
            <a:ext cx="8483252" cy="4800600"/>
          </a:xfrm>
        </p:spPr>
      </p:pic>
    </p:spTree>
    <p:extLst>
      <p:ext uri="{BB962C8B-B14F-4D97-AF65-F5344CB8AC3E}">
        <p14:creationId xmlns:p14="http://schemas.microsoft.com/office/powerpoint/2010/main" val="388292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188D-7CCE-4BDC-A2A5-7375A301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444895" cy="849086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8" y="1578430"/>
            <a:ext cx="8621487" cy="4463596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148" y="6053971"/>
            <a:ext cx="1846106" cy="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7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2691</TotalTime>
  <Words>622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Yu Gothic Light</vt:lpstr>
      <vt:lpstr>Arial</vt:lpstr>
      <vt:lpstr>Calibri</vt:lpstr>
      <vt:lpstr>Cambria</vt:lpstr>
      <vt:lpstr>Times New Roman</vt:lpstr>
      <vt:lpstr>Wingdings</vt:lpstr>
      <vt:lpstr>Adjacency</vt:lpstr>
      <vt:lpstr>   POWER BI</vt:lpstr>
      <vt:lpstr>What is Power BI</vt:lpstr>
      <vt:lpstr>PowerPoint Presentation</vt:lpstr>
      <vt:lpstr>PowerPoint Presentation</vt:lpstr>
      <vt:lpstr>Usage of Data Analysis in Industry:</vt:lpstr>
      <vt:lpstr>Evolution of Power BI</vt:lpstr>
      <vt:lpstr>Why Power BI ?</vt:lpstr>
      <vt:lpstr>Benefits of Power BI</vt:lpstr>
      <vt:lpstr>Power BI Consists of Four Components/Phases</vt:lpstr>
      <vt:lpstr>BUILDING BLOCKS / COMPONENTS OF POWER BI</vt:lpstr>
      <vt:lpstr>Power BI</vt:lpstr>
      <vt:lpstr>Components of Power BI</vt:lpstr>
      <vt:lpstr>Building blocks of Power BI  (Major block of Power BI Reporting)</vt:lpstr>
      <vt:lpstr>Dataset:</vt:lpstr>
      <vt:lpstr>Visualizations:  A visual representation of data is called visualization. For example, a chart or a graph can be used to represent data visually.  </vt:lpstr>
      <vt:lpstr>    Reports:   A collection of visualizations that appear together on one or more pages is a report in Power BI. It is a collection of items that are related to one another.  </vt:lpstr>
      <vt:lpstr>    Dashboards:  A Power BI dashboard is a single page interface.    It is often called a canvas, that uses visualizations to tell a story.    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 POWER BI</dc:title>
  <dc:creator>Lizdavid</dc:creator>
  <cp:lastModifiedBy>Enosis</cp:lastModifiedBy>
  <cp:revision>106</cp:revision>
  <dcterms:created xsi:type="dcterms:W3CDTF">2019-09-30T07:23:59Z</dcterms:created>
  <dcterms:modified xsi:type="dcterms:W3CDTF">2025-06-25T07:38:51Z</dcterms:modified>
</cp:coreProperties>
</file>